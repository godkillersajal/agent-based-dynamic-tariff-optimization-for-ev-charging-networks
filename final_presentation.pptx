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C3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66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7056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548640"/>
            <a:ext cx="2194560" cy="2926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AI-POWERED PRICING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AI-Based</a:t>
            </a:r>
            <a:endParaRPr lang="en-US" sz="3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Tariff Optimization</a:t>
            </a:r>
            <a:endParaRPr lang="en-US" sz="30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 Charging Networks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UrbanEV and ACN Charging Session Data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3200400" cy="36576"/>
          </a:xfrm>
          <a:prstGeom prst="rect">
            <a:avLst/>
          </a:prstGeom>
          <a:solidFill>
            <a:srgbClr val="64748B">
              <a:alpha val="60000"/>
            </a:srgbClr>
          </a:solidFill>
          <a:ln w="12700">
            <a:solidFill>
              <a:srgbClr val="64748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Presented by: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Sajal Tuley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Executive Summary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68680"/>
            <a:ext cx="2651760" cy="26060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265176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OBJECTIVE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2608" y="1325880"/>
            <a:ext cx="24323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Develop an Agentic AI framework that predicts charging demand, identifies congestion, and dynamically adjusts EV charging tariffs.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Improve network revenue and infrastructure utilization through real-time, data-driven pricing.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651760" cy="26060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6517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4612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APPROACH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55848" y="1325880"/>
            <a:ext cx="24323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UrbanEV: behavioral insights; ACN: model training, validation &amp; pricing evaluation.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Four sequential agents: Real-Time Demand Prediction → Congestion Monitoring → Dynamic Pricing → Monitoring &amp; Feedback.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868680"/>
            <a:ext cx="2651760" cy="26060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309360" y="868680"/>
            <a:ext cx="26517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09360" y="868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</a:rPr>
              <a:t>KEY RESULTS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19088" y="1325880"/>
            <a:ext cx="2432304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Demand Prediction (XGBoost): R² = 0.811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Congestion Agent: Accuracy = 91%,  F1 = 0.59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Est. revenue uplift: +12.33% (fixed-demand assumptions).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Framework demonstrates real-time data can increase revenue &amp; visibility.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2880" y="3584448"/>
            <a:ext cx="8778240" cy="292608"/>
          </a:xfrm>
          <a:prstGeom prst="rect">
            <a:avLst/>
          </a:prstGeom>
          <a:solidFill>
            <a:srgbClr val="EBF5FB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358444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</a:rPr>
              <a:t>UrbanEV</a:t>
            </a:r>
            <a:r>
              <a:rPr lang="en-US" sz="950" dirty="0">
                <a:solidFill>
                  <a:srgbClr val="1E293B"/>
                </a:solidFill>
              </a:rPr>
              <a:t> was used for behavioral insights, while </a:t>
            </a:r>
            <a:r>
              <a:rPr lang="en-US" sz="950" b="1" dirty="0">
                <a:solidFill>
                  <a:srgbClr val="1C7293"/>
                </a:solidFill>
              </a:rPr>
              <a:t>ACN</a:t>
            </a:r>
            <a:r>
              <a:rPr lang="en-US" sz="950" dirty="0">
                <a:solidFill>
                  <a:srgbClr val="1E293B"/>
                </a:solidFill>
              </a:rPr>
              <a:t> was used for model training, validation, and pricing evaluation.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3931920"/>
            <a:ext cx="8778240" cy="1005840"/>
          </a:xfrm>
          <a:prstGeom prst="rect">
            <a:avLst/>
          </a:prstGeom>
          <a:solidFill>
            <a:srgbClr val="FFF8F0"/>
          </a:solidFill>
          <a:ln w="12700">
            <a:solidFill>
              <a:srgbClr val="F59E0B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82880" y="3931920"/>
            <a:ext cx="54864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84048" y="3959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Limitations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" y="4233672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Dynamic pricing evaluated through simulation.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Elasticity not directly estimated from historical data.</a:t>
            </a:r>
            <a:endParaRPr lang="en-US" sz="10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</a:rPr>
              <a:t>ACN primarily reflects workplace charging behaviour.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Landscape &amp; Problem Understanding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114800" cy="224028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1148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UrbanEV Dataset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25296"/>
            <a:ext cx="3840480" cy="219456"/>
          </a:xfrm>
          <a:prstGeom prst="rect">
            <a:avLst/>
          </a:prstGeom>
          <a:solidFill>
            <a:srgbClr val="065A82">
              <a:alpha val="20000"/>
            </a:srgbClr>
          </a:solidFill>
          <a:ln w="12700">
            <a:solidFill>
              <a:srgbClr val="065A82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225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065A82"/>
                </a:solidFill>
              </a:rPr>
              <a:t>Behavioral Insight Dataset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490472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</a:rPr>
              <a:t>247 </a:t>
            </a:r>
            <a:r>
              <a:rPr lang="en-US" sz="1100" dirty="0">
                <a:solidFill>
                  <a:srgbClr val="1E293B"/>
                </a:solidFill>
              </a:rPr>
              <a:t>stations  </a:t>
            </a:r>
            <a:r>
              <a:rPr lang="en-US" sz="1800" b="1" dirty="0">
                <a:solidFill>
                  <a:srgbClr val="065A82"/>
                </a:solidFill>
              </a:rPr>
              <a:t>30 </a:t>
            </a:r>
            <a:r>
              <a:rPr lang="en-US" sz="1100" dirty="0">
                <a:solidFill>
                  <a:srgbClr val="1E293B"/>
                </a:solidFill>
              </a:rPr>
              <a:t>days  </a:t>
            </a:r>
            <a:r>
              <a:rPr lang="en-US" sz="1800" b="1" dirty="0">
                <a:solidFill>
                  <a:srgbClr val="065A82"/>
                </a:solidFill>
              </a:rPr>
              <a:t>2.13M </a:t>
            </a:r>
            <a:r>
              <a:rPr lang="en-US" sz="1100" dirty="0">
                <a:solidFill>
                  <a:srgbClr val="1E293B"/>
                </a:solidFill>
              </a:rPr>
              <a:t>records
</a:t>
            </a:r>
            <a:r>
              <a:rPr lang="en-US" sz="1050" b="1" dirty="0">
                <a:solidFill>
                  <a:srgbClr val="1E293B"/>
                </a:solidFill>
              </a:rPr>
              <a:t>Purpose: </a:t>
            </a:r>
            <a:r>
              <a:rPr lang="en-US" sz="1050" dirty="0">
                <a:solidFill>
                  <a:srgbClr val="64748B"/>
                </a:solidFill>
              </a:rPr>
              <a:t>Understand large-scale charging demand, congestion dynamics, and pricing behavior.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822960"/>
            <a:ext cx="4114800" cy="224028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846320" y="822960"/>
            <a:ext cx="411480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46320" y="8229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ACN Dataset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1225296"/>
            <a:ext cx="3840480" cy="219456"/>
          </a:xfrm>
          <a:prstGeom prst="rect">
            <a:avLst/>
          </a:prstGeom>
          <a:solidFill>
            <a:srgbClr val="1C7293">
              <a:alpha val="2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83480" y="1225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1C7293"/>
                </a:solidFill>
              </a:rPr>
              <a:t>Operational Modeling Dataset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83480" y="1490472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</a:rPr>
              <a:t>14,999 </a:t>
            </a:r>
            <a:r>
              <a:rPr lang="en-US" sz="1100" dirty="0">
                <a:solidFill>
                  <a:srgbClr val="1E293B"/>
                </a:solidFill>
              </a:rPr>
              <a:t>sessions
</a:t>
            </a:r>
            <a:r>
              <a:rPr lang="en-US" sz="1100" b="1" dirty="0">
                <a:solidFill>
                  <a:srgbClr val="1E293B"/>
                </a:solidFill>
              </a:rPr>
              <a:t>Session-level </a:t>
            </a:r>
            <a:r>
              <a:rPr lang="en-US" sz="1100" dirty="0">
                <a:solidFill>
                  <a:srgbClr val="1E293B"/>
                </a:solidFill>
              </a:rPr>
              <a:t>charging behavior
Energy delivered, duration, station info
</a:t>
            </a:r>
            <a:r>
              <a:rPr lang="en-US" sz="1050" b="1" dirty="0">
                <a:solidFill>
                  <a:srgbClr val="1E293B"/>
                </a:solidFill>
              </a:rPr>
              <a:t>Purpose: </a:t>
            </a:r>
            <a:r>
              <a:rPr lang="en-US" sz="1050" dirty="0">
                <a:solidFill>
                  <a:srgbClr val="64748B"/>
                </a:solidFill>
              </a:rPr>
              <a:t>Develop the operational real-time demand prediction and dynamic pricing system.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82880" y="3154680"/>
            <a:ext cx="8778240" cy="347472"/>
          </a:xfrm>
          <a:prstGeom prst="rect">
            <a:avLst/>
          </a:prstGeom>
          <a:solidFill>
            <a:srgbClr val="EBF5FB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315468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</a:rPr>
              <a:t>UrbanEV</a:t>
            </a:r>
            <a:r>
              <a:rPr lang="en-US" sz="1000" dirty="0">
                <a:solidFill>
                  <a:srgbClr val="1E293B"/>
                </a:solidFill>
              </a:rPr>
              <a:t> was used for behavioral insights, while </a:t>
            </a:r>
            <a:r>
              <a:rPr lang="en-US" sz="1000" b="1" dirty="0">
                <a:solidFill>
                  <a:srgbClr val="1C7293"/>
                </a:solidFill>
              </a:rPr>
              <a:t>ACN</a:t>
            </a:r>
            <a:r>
              <a:rPr lang="en-US" sz="1000" dirty="0">
                <a:solidFill>
                  <a:srgbClr val="1E293B"/>
                </a:solidFill>
              </a:rPr>
              <a:t> was used for model training, validation, and pricing evaluation.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" y="3584448"/>
            <a:ext cx="8778240" cy="6217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82880" y="3584448"/>
            <a:ext cx="54864" cy="6217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02336" y="35844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</a:rPr>
              <a:t>Key Challenge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48840" y="3584448"/>
            <a:ext cx="6675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CE8"/>
                </a:solidFill>
              </a:rPr>
              <a:t>Most charging networks use static tariffs despite significant demand variation — causing peak-hour congestion, underutilized off-peak infrastructure, and suboptimal revenue.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82880" y="4297680"/>
            <a:ext cx="877824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30352" y="4301067"/>
            <a:ext cx="1463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</a:rPr>
              <a:t>Agentic Workflow: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737360" y="4370832"/>
            <a:ext cx="1572768" cy="475488"/>
          </a:xfrm>
          <a:prstGeom prst="rect">
            <a:avLst/>
          </a:prstGeom>
          <a:solidFill>
            <a:srgbClr val="00B0F0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737360" y="4370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Demand Prediction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310128" y="4480560"/>
            <a:ext cx="256032" cy="256032"/>
          </a:xfrm>
          <a:prstGeom prst="rightArrow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566160" y="4370832"/>
            <a:ext cx="1572768" cy="475488"/>
          </a:xfrm>
          <a:prstGeom prst="rect">
            <a:avLst/>
          </a:prstGeom>
          <a:solidFill>
            <a:srgbClr val="00B050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566160" y="4370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Congestion Monitoring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138928" y="4480560"/>
            <a:ext cx="256032" cy="256032"/>
          </a:xfrm>
          <a:prstGeom prst="rightArrow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5394960" y="4370832"/>
            <a:ext cx="157276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394960" y="4370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Dynamic Pricing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967728" y="4480560"/>
            <a:ext cx="256032" cy="256032"/>
          </a:xfrm>
          <a:prstGeom prst="rightArrow">
            <a:avLst/>
          </a:prstGeom>
          <a:solidFill>
            <a:srgbClr val="C8DCE8"/>
          </a:solidFill>
          <a:ln w="12700">
            <a:solidFill>
              <a:srgbClr val="C8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7223760" y="4370832"/>
            <a:ext cx="157276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223760" y="437083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Monitoring &amp; Feedback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0040" y="491947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Specialized agents collaborate through a continuous decision-support workflow.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Charging Demand &amp; User Behaviour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11480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ACN Hourly Demand Profile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78992"/>
            <a:ext cx="4114800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804672"/>
            <a:ext cx="41148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4632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UrbanEV Hourly Demand Profile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78992"/>
            <a:ext cx="4114800" cy="2331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2880" y="3520440"/>
            <a:ext cx="877824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182880" y="3520440"/>
            <a:ext cx="54864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84048" y="3566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84048" y="382219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Both datasets exhibit strong temporal demand variation.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UrbanEV demonstrates city-scale charging demand cycles.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ACN demonstrates workplace charging behavior, with peak activity during afternoon hours.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Weekday demand consistently exceeds weekend demand.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These observations indicate that static pricing fails to reflect actual charging demand conditions.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Infrastructure Utilization Analysis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11480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Cumulative Energy Contribution by Station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78992"/>
            <a:ext cx="4114800" cy="23317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804672"/>
            <a:ext cx="41148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46320" y="804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Requested vs Delivered Energy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78992"/>
            <a:ext cx="4114800" cy="23317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2880" y="3520440"/>
            <a:ext cx="8778240" cy="13716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182880" y="3520440"/>
            <a:ext cx="54864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384048" y="35661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84048" y="3822192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~30 stations account for 80% of total energy delivered — demand is highly concentrated.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Average request fulfillment is approximately 65%, indicating users frequently receive less energy than requested.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Vehicles often remain connected after charging completion, reducing charger availability.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Station utilization varies substantially across the network, creating opportunities for congestion-aware pricing strategies.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Real-Time Demand Prediction Agent</a:t>
            </a:r>
            <a:endParaRPr lang="en-US" sz="2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04672"/>
            <a:ext cx="4754880" cy="283464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841248"/>
          <a:ext cx="3794760" cy="128016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Features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Agent (XGBoost)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120640" y="2212848"/>
            <a:ext cx="379476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120640" y="2212848"/>
            <a:ext cx="4572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5230368" y="2212848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E293B"/>
                </a:solidFill>
              </a:rPr>
              <a:t>Real-time charging activity significantly improves demand prediction accuracy compared with historical-only approaches.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120640" y="2816352"/>
            <a:ext cx="3794760" cy="11430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5120640" y="2816352"/>
            <a:ext cx="379476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5120640" y="28163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Why XGBoost?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230368" y="312724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Handles nonlinear charging demand patterns.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Robust to noisy operational data.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Captures time, demand &amp; session-count interactions.</a:t>
            </a:r>
            <a:endParaRPr lang="en-US" sz="9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</a:rPr>
              <a:t>Consistently outperformed all baseline approaches.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182880" y="4059936"/>
            <a:ext cx="8778240" cy="8229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182880" y="4059936"/>
            <a:ext cx="5486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02336" y="4059936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Real-Time Operational System: </a:t>
            </a:r>
            <a:r>
              <a:rPr lang="en-US" sz="1100" dirty="0">
                <a:solidFill>
                  <a:srgbClr val="FFFFFF"/>
                </a:solidFill>
              </a:rPr>
              <a:t>This agent operates as a real-time decision-support system using live session data — not a long-horizon forecasting model. Predictions are generated per charging cycle to feed the pricing engine immediately.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Dynamic Tariff Pricing Agent</a:t>
            </a:r>
            <a:endParaRPr lang="en-US" sz="2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04672"/>
            <a:ext cx="5303520" cy="2331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" y="321868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Pricing Pipeline: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389888" y="3218688"/>
            <a:ext cx="91440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389888" y="32186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Demand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Prediction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2304288" y="3346704"/>
            <a:ext cx="164592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2468880" y="3218688"/>
            <a:ext cx="914400" cy="5303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2468880" y="32186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Demand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383280" y="3346704"/>
            <a:ext cx="164592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3547872" y="3218688"/>
            <a:ext cx="91440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547872" y="32186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Tariff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Adjustment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462272" y="3346704"/>
            <a:ext cx="164592" cy="274320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4626864" y="3218688"/>
            <a:ext cx="914400" cy="5303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626864" y="3218688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Revenue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Simulation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5669280" y="822960"/>
            <a:ext cx="3291840" cy="233172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5"/>
          <p:cNvSpPr/>
          <p:nvPr/>
        </p:nvSpPr>
        <p:spPr>
          <a:xfrm>
            <a:off x="5669280" y="822960"/>
            <a:ext cx="329184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669280" y="822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Pricing Logic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760720" y="1216152"/>
            <a:ext cx="3108960" cy="274320"/>
          </a:xfrm>
          <a:prstGeom prst="rect">
            <a:avLst/>
          </a:prstGeom>
          <a:solidFill>
            <a:srgbClr val="EBF5FB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5760720" y="1216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5A82"/>
                </a:solidFill>
              </a:rPr>
              <a:t>Baseline Tariff: </a:t>
            </a:r>
            <a:r>
              <a:rPr lang="en-US" sz="1100" b="1" dirty="0">
                <a:solidFill>
                  <a:srgbClr val="0A1628"/>
                </a:solidFill>
              </a:rPr>
              <a:t>₹15/kWh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760720" y="1572768"/>
            <a:ext cx="137160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760720" y="15727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Peak Demand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178040" y="1572768"/>
            <a:ext cx="1828800" cy="329184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178040" y="15727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+15%  →  ₹17.25/kWh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760720" y="1993392"/>
            <a:ext cx="137160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/>
          <p:nvPr/>
        </p:nvSpPr>
        <p:spPr>
          <a:xfrm>
            <a:off x="5760720" y="199339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High Demand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178040" y="1993392"/>
            <a:ext cx="182880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/>
          <p:nvPr/>
        </p:nvSpPr>
        <p:spPr>
          <a:xfrm>
            <a:off x="7178040" y="199339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+8%    →  ₹16.20/kWh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760720" y="2414016"/>
            <a:ext cx="1371600" cy="32918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8"/>
          <p:cNvSpPr/>
          <p:nvPr/>
        </p:nvSpPr>
        <p:spPr>
          <a:xfrm>
            <a:off x="5760720" y="24140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Low Demand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178040" y="2414016"/>
            <a:ext cx="1828800" cy="32918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/>
          <p:nvPr/>
        </p:nvSpPr>
        <p:spPr>
          <a:xfrm>
            <a:off x="7178040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−10%  →  ₹13.50/kWh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5715000" y="2834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Tariff (₹/kWh) adjusts in real-time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based on predicted demand levels.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82880" y="3858768"/>
            <a:ext cx="274320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3"/>
          <p:cNvSpPr/>
          <p:nvPr/>
        </p:nvSpPr>
        <p:spPr>
          <a:xfrm>
            <a:off x="182880" y="39044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Baseline Revenue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182880" y="41513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5A82"/>
                </a:solidFill>
              </a:rPr>
              <a:t>₹ 2.02 Million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3017520" y="4133088"/>
            <a:ext cx="640080" cy="347472"/>
          </a:xfrm>
          <a:prstGeom prst="rightArrow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6"/>
          <p:cNvSpPr/>
          <p:nvPr/>
        </p:nvSpPr>
        <p:spPr>
          <a:xfrm>
            <a:off x="3749040" y="3858768"/>
            <a:ext cx="2743200" cy="86868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Text 37"/>
          <p:cNvSpPr/>
          <p:nvPr/>
        </p:nvSpPr>
        <p:spPr>
          <a:xfrm>
            <a:off x="3749040" y="39044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Dynamic Revenue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749040" y="41513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C7293"/>
                </a:solidFill>
              </a:rPr>
              <a:t>₹ 2.27 Million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6629400" y="3858768"/>
            <a:ext cx="2331720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Text 40"/>
          <p:cNvSpPr/>
          <p:nvPr/>
        </p:nvSpPr>
        <p:spPr>
          <a:xfrm>
            <a:off x="6629400" y="38953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Est. Uplift (fixed-demand)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629400" y="413308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628"/>
                </a:solidFill>
              </a:rPr>
              <a:t>+12.33%</a:t>
            </a:r>
            <a:endParaRPr lang="en-US" sz="2400" dirty="0"/>
          </a:p>
        </p:txBody>
      </p:sp>
      <p:sp>
        <p:nvSpPr>
          <p:cNvPr id="45" name="Shape 42"/>
          <p:cNvSpPr/>
          <p:nvPr/>
        </p:nvSpPr>
        <p:spPr>
          <a:xfrm>
            <a:off x="182880" y="4818888"/>
            <a:ext cx="8778240" cy="292608"/>
          </a:xfrm>
          <a:prstGeom prst="rect">
            <a:avLst/>
          </a:prstGeom>
          <a:solidFill>
            <a:srgbClr val="FFF8F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3"/>
          <p:cNvSpPr/>
          <p:nvPr/>
        </p:nvSpPr>
        <p:spPr>
          <a:xfrm>
            <a:off x="320040" y="4818888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</a:rPr>
              <a:t>Elasticity: </a:t>
            </a:r>
            <a:r>
              <a:rPr lang="en-US" sz="900" dirty="0">
                <a:solidFill>
                  <a:srgbClr val="1E293B"/>
                </a:solidFill>
              </a:rPr>
              <a:t>Sensitivity testing showed revenue gains remained positive under multiple customer-response assumptions. See Appendix D.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Congestion &amp; Monitoring Agent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114800" cy="402336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28600" y="80467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2610A"/>
                </a:solidFill>
              </a:rPr>
              <a:t>Congestion Definition: Session Count &gt; Historical 80th Percentile</a:t>
            </a:r>
            <a:r>
              <a:rPr lang="en-US" sz="850" i="1" dirty="0">
                <a:solidFill>
                  <a:srgbClr val="7A5800"/>
                </a:solidFill>
              </a:rPr>
              <a:t>  ·  80th percentile selected to balance operational sensitivity and training-data availability.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225296"/>
            <a:ext cx="4114800" cy="28712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0" y="804672"/>
            <a:ext cx="4389120" cy="192024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4572000" y="804672"/>
            <a:ext cx="43891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572000" y="8046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Monitoring Agent Responsibilities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81728" y="118872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Monitor real-time demand forecasts from the Prediction Agent.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Track congestion probability.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Evaluate revenue performance.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Monitor charging utilization.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Provide feedback for future tariff adjustments.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0" y="2816352"/>
            <a:ext cx="4389120" cy="1280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572000" y="2816352"/>
            <a:ext cx="438912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572000" y="28163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Performance Metrics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617720" y="318211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91%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617720" y="3566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Accuracy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15000" y="318211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63%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715000" y="3566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Precision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812280" y="318211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56%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812280" y="3566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Recall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09560" y="318211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59%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909560" y="35661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F1 Score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0" y="4169664"/>
            <a:ext cx="4389120" cy="475488"/>
          </a:xfrm>
          <a:prstGeom prst="rect">
            <a:avLst/>
          </a:prstGeom>
          <a:solidFill>
            <a:srgbClr val="EBF5FB"/>
          </a:solidFill>
          <a:ln w="12700">
            <a:solidFill>
              <a:srgbClr val="BEE3F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572000" y="4169664"/>
            <a:ext cx="45720" cy="47548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4681728" y="416966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</a:rPr>
              <a:t>Congestion events are relatively infrequent; F1 score provides a more informative assessment than accuracy alone.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Business Impact &amp;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114800" cy="242316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411480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Business Impact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" y="1207008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Estimated revenue uplift of 12.33% under fixed-demand assumptions.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Real-time demand prediction accuracy improved significantly vs. naive baseline methods.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Congestion periods can be identified proactively rather than reactively.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Charging infrastructure utilization can be managed more effectively through demand-responsive pricing.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04672"/>
            <a:ext cx="4389120" cy="2423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38912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0" y="8046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Deployment Recommendation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1965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663440" y="1234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E8"/>
                </a:solidFill>
              </a:rPr>
              <a:t>Utilization &lt; 30%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56832" y="1234440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234440"/>
            <a:ext cx="192024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949440" y="1234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Discount Pricing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664208"/>
            <a:ext cx="1965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63440" y="166420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E8"/>
                </a:solidFill>
              </a:rPr>
              <a:t>Normal Demand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656832" y="1664208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49440" y="1664208"/>
            <a:ext cx="192024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949440" y="166420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Base Pricing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093976"/>
            <a:ext cx="1965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663440" y="2093976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E8"/>
                </a:solidFill>
              </a:rPr>
              <a:t>High Demand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56832" y="2093976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3025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49440" y="2093976"/>
            <a:ext cx="1920240" cy="347472"/>
          </a:xfrm>
          <a:prstGeom prst="rect">
            <a:avLst/>
          </a:prstGeom>
          <a:solidFill>
            <a:srgbClr val="D93025"/>
          </a:solidFill>
          <a:ln w="12700">
            <a:solidFill>
              <a:srgbClr val="D9302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949440" y="209397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Surge Pricing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523744"/>
            <a:ext cx="19659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663440" y="252374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CE8"/>
                </a:solidFill>
              </a:rPr>
              <a:t>Continuous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56832" y="2523744"/>
            <a:ext cx="256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949440" y="2523744"/>
            <a:ext cx="1920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949440" y="252374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 Tariff Refinement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82880" y="3337560"/>
            <a:ext cx="8778240" cy="13258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182880" y="3337560"/>
            <a:ext cx="54864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11480" y="3364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11480" y="3675888"/>
            <a:ext cx="8366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The proposed Agentic AI framework operates as a real-time operational decision-support system — not a long-horizon forecasting tool. It dynamically optimizes EV charging tariffs using live session data, producing an estimated 12.33% revenue uplift under fixed-demand assumptions.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Appendix A  </a:t>
            </a:r>
            <a:r>
              <a:rPr lang="en-US" sz="2200" b="1" dirty="0">
                <a:solidFill>
                  <a:srgbClr val="FFFFFF"/>
                </a:solidFill>
              </a:rPr>
              <a:t>Why XGBoost?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3931920" cy="333756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393192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Alternative Models Considered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Linear Regression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Unable to capture nonlinear demand patterns.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Decision Trees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High variance and overfitting risk.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127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4015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</a:rPr>
              <a:t>Strong performance but weaker predictive performance and interpretability compared with the Real-Time Demand Prediction Agent (XGBoost).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804672"/>
            <a:ext cx="4553712" cy="33375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389120" y="804672"/>
            <a:ext cx="4553712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389120" y="804672"/>
            <a:ext cx="4553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Selected Model: XGBoost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12435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Reasons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1554480"/>
            <a:ext cx="41605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8DCE8"/>
                </a:solidFill>
              </a:rPr>
              <a:t>Superior predictive performance.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8DCE8"/>
                </a:solidFill>
              </a:rPr>
              <a:t>Robust handling of missing and noisy operational data.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8DCE8"/>
                </a:solidFill>
              </a:rPr>
              <a:t>Effective modeling of nonlinear charging demand behavior.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8DCE8"/>
                </a:solidFill>
              </a:rPr>
              <a:t>Widely adopted in demand forecasting and energy analytics applications.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Appendix 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Appendix B  </a:t>
            </a:r>
            <a:r>
              <a:rPr lang="en-US" sz="2200" b="1" dirty="0">
                <a:solidFill>
                  <a:srgbClr val="FFFFFF"/>
                </a:solidFill>
              </a:rPr>
              <a:t>Model Validation &amp; Leakage Checks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114800" cy="265176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41148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Validation Checks Performed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3794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Time-based train-test split used.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No random shuffling applied.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Naive baseline comparison performed.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Historical-only model comparison performed.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804672"/>
            <a:ext cx="4389120" cy="2651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3891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0" y="8046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Results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98448"/>
            <a:ext cx="4206240" cy="530352"/>
          </a:xfrm>
          <a:prstGeom prst="rect">
            <a:avLst/>
          </a:prstGeom>
          <a:solidFill>
            <a:srgbClr val="0F23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54880" y="133502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AD0"/>
                </a:solidFill>
              </a:rPr>
              <a:t>Naive Baseline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13350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</a:rPr>
              <a:t>R² = 0.105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3440" y="1956816"/>
            <a:ext cx="4206240" cy="530352"/>
          </a:xfrm>
          <a:prstGeom prst="rect">
            <a:avLst/>
          </a:prstGeom>
          <a:solidFill>
            <a:srgbClr val="0F23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754880" y="199339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AD0"/>
                </a:solidFill>
              </a:rPr>
              <a:t>Historical Features Only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0" y="19933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R² = 0.395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2615184"/>
            <a:ext cx="4206240" cy="530352"/>
          </a:xfrm>
          <a:prstGeom prst="rect">
            <a:avLst/>
          </a:prstGeom>
          <a:solidFill>
            <a:srgbClr val="0F23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54880" y="2651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AD0"/>
                </a:solidFill>
              </a:rPr>
              <a:t>Real-Time Prediction Agent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2651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R² = 0.811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82880" y="3547872"/>
            <a:ext cx="877824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182880" y="3547872"/>
            <a:ext cx="54864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02336" y="3584448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These results indicate that the model learns meaningful demand patterns beyond simple historical averages while benefiting from real-time operational information.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Appendix B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Appendix C  </a:t>
            </a:r>
            <a:r>
              <a:rPr lang="en-US" sz="2200" b="1" dirty="0">
                <a:solidFill>
                  <a:srgbClr val="FFFFFF"/>
                </a:solidFill>
              </a:rPr>
              <a:t>Additional Insights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114800" cy="23774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046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Monthly Charging Sessions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042416"/>
            <a:ext cx="4114800" cy="1920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846320" y="804672"/>
            <a:ext cx="4114800" cy="23774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846320" y="80467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Charger Utilization Categories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042416"/>
            <a:ext cx="411480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2880" y="2788920"/>
            <a:ext cx="411480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182880" y="27889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 Importance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3026664"/>
            <a:ext cx="4114800" cy="19202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846320" y="2788920"/>
            <a:ext cx="4114800" cy="2377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9"/>
          <p:cNvSpPr/>
          <p:nvPr/>
        </p:nvSpPr>
        <p:spPr>
          <a:xfrm>
            <a:off x="4846320" y="27889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Residual Analysis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026664"/>
            <a:ext cx="4114800" cy="19202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Additional EDA confirms strong temporal charging behavior, seasonal demand variation, and heterogeneous station utilization patterns across the network.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</a:rPr>
              <a:t>Appendix D  </a:t>
            </a:r>
            <a:r>
              <a:rPr lang="en-US" sz="2200" b="1" dirty="0">
                <a:solidFill>
                  <a:srgbClr val="FFFFFF"/>
                </a:solidFill>
              </a:rPr>
              <a:t>Elasticity Robustness Check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114800" cy="3200400"/>
          </a:xfrm>
          <a:prstGeom prst="rect">
            <a:avLst/>
          </a:prstGeom>
          <a:solidFill>
            <a:srgbClr val="E8F4F8"/>
          </a:solidFill>
          <a:ln w="12700">
            <a:solidFill>
              <a:srgbClr val="D1E9F0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" y="804672"/>
            <a:ext cx="4114800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82880" y="8046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Sensitivity Analysis?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2344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Limited historical tariff variation in the ACN dataset prevented direct elasticity estimation.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Customers were always charged the same rate historically, so their price-response behaviour is unobserved.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Sensitivity testing was performed instead, simulating revenue across a plausible elasticity range.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This approach follows standard practice in demand-response feasibility studies.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804672"/>
            <a:ext cx="4389120" cy="3200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3891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0" y="8046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</a:rPr>
              <a:t>Sensitivity Results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63440" y="123444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</a:rPr>
              <a:t>Elasticity Range Tested: −0.1 to −0.3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27632"/>
            <a:ext cx="4206240" cy="475488"/>
          </a:xfrm>
          <a:prstGeom prst="rect">
            <a:avLst/>
          </a:prstGeom>
          <a:solidFill>
            <a:srgbClr val="0F23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54880" y="16642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AD0"/>
                </a:solidFill>
              </a:rPr>
              <a:t>ε = −0.1 (low sensitivity)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23760" y="1682496"/>
            <a:ext cx="15087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223760" y="168249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Revenue uplift retained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2194560"/>
            <a:ext cx="4206240" cy="475488"/>
          </a:xfrm>
          <a:prstGeom prst="rect">
            <a:avLst/>
          </a:prstGeom>
          <a:solidFill>
            <a:srgbClr val="0F23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54880" y="223113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AD0"/>
                </a:solidFill>
              </a:rPr>
              <a:t>ε = −0.2 (moderate)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223760" y="2249424"/>
            <a:ext cx="15087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7223760" y="224942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Revenue uplift retained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761488"/>
            <a:ext cx="4206240" cy="475488"/>
          </a:xfrm>
          <a:prstGeom prst="rect">
            <a:avLst/>
          </a:prstGeom>
          <a:solidFill>
            <a:srgbClr val="0F2333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54880" y="27980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BAD0"/>
                </a:solidFill>
              </a:rPr>
              <a:t>ε = −0.3 (high sensitivity)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223760" y="2816352"/>
            <a:ext cx="150876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223760" y="28163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1628"/>
                </a:solidFill>
              </a:rPr>
              <a:t>Revenue uplift retained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63440" y="3383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C8DCE8"/>
                </a:solidFill>
              </a:rPr>
              <a:t>Revenue remained positive across all tested elasticity scenarios,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C8DCE8"/>
                </a:solidFill>
              </a:rPr>
              <a:t>supporting the feasibility of dynamic pricing deployment.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2880" y="4114800"/>
            <a:ext cx="877824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182880" y="4114800"/>
            <a:ext cx="54864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02336" y="41148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</a:rPr>
              <a:t>Note: Elasticity was not directly learned due to limited historical tariff variation. Sensitivity testing across elasticity scenarios (−0.1 to −0.3) continued to show positive revenue uplift, supporting pricing robustness.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</a:rPr>
              <a:t>Appendix 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1219</Words>
  <Application>Microsoft Office PowerPoint</Application>
  <PresentationFormat>On-screen Show (16:9)</PresentationFormat>
  <Paragraphs>206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AI-Based Dynamic Tariff Optimization for EV Charging Networks</dc:title>
  <dc:subject>PptxGenJS Presentation</dc:subject>
  <dc:creator>Sajal Tuley</dc:creator>
  <cp:lastModifiedBy>Sajal Tuley</cp:lastModifiedBy>
  <cp:revision>4</cp:revision>
  <dcterms:created xsi:type="dcterms:W3CDTF">2026-06-01T08:30:40Z</dcterms:created>
  <dcterms:modified xsi:type="dcterms:W3CDTF">2026-06-06T18:22:55Z</dcterms:modified>
</cp:coreProperties>
</file>